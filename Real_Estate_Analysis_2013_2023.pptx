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60"/>
  </p:normalViewPr>
  <p:slideViewPr>
    <p:cSldViewPr snapToGrid="0" snapToObjects="1">
      <p:cViewPr>
        <p:scale>
          <a:sx n="127" d="100"/>
          <a:sy n="127" d="100"/>
        </p:scale>
        <p:origin x="1104"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84187"/>
            <a:ext cx="7772400" cy="1470025"/>
          </a:xfrm>
        </p:spPr>
        <p:txBody>
          <a:bodyPr/>
          <a:lstStyle/>
          <a:p>
            <a:r>
              <a:rPr b="1" dirty="0"/>
              <a:t>Real Estate Market Analysis</a:t>
            </a:r>
          </a:p>
        </p:txBody>
      </p:sp>
      <p:sp>
        <p:nvSpPr>
          <p:cNvPr id="3" name="Subtitle 2"/>
          <p:cNvSpPr>
            <a:spLocks noGrp="1"/>
          </p:cNvSpPr>
          <p:nvPr>
            <p:ph type="subTitle" idx="1"/>
          </p:nvPr>
        </p:nvSpPr>
        <p:spPr>
          <a:xfrm>
            <a:off x="1371600" y="1512084"/>
            <a:ext cx="6400800" cy="618166"/>
          </a:xfrm>
        </p:spPr>
        <p:txBody>
          <a:bodyPr/>
          <a:lstStyle/>
          <a:p>
            <a:r>
              <a:rPr lang="en-US" dirty="0">
                <a:solidFill>
                  <a:schemeClr val="tx1"/>
                </a:solidFill>
              </a:rPr>
              <a:t>2013 - 2023</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normAutofit lnSpcReduction="10000"/>
          </a:bodyPr>
          <a:lstStyle/>
          <a:p>
            <a:r>
              <a:rPr dirty="0"/>
              <a:t> Market Activity Peak: Sales volume peaked in 2021, followed by a correction in 2022.</a:t>
            </a:r>
          </a:p>
          <a:p>
            <a:r>
              <a:rPr dirty="0"/>
              <a:t> Price Resilience: Average prices remained stable ($700k-$800k) despite volume drops.</a:t>
            </a:r>
          </a:p>
          <a:p>
            <a:r>
              <a:rPr dirty="0"/>
              <a:t> Geographic Dominance: NYC leads in volume; niche markets like North Hampton, NH lead in price.</a:t>
            </a:r>
          </a:p>
          <a:p>
            <a:r>
              <a:rPr dirty="0"/>
              <a:t> Value Drivers: Strong positive correlation between Size/Bathrooms and Price.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Market Trends: Volume &amp; Price</a:t>
            </a:r>
          </a:p>
        </p:txBody>
      </p:sp>
      <p:pic>
        <p:nvPicPr>
          <p:cNvPr id="4" name="Picture 3" descr="price_trend.png"/>
          <p:cNvPicPr>
            <a:picLocks noChangeAspect="1"/>
          </p:cNvPicPr>
          <p:nvPr/>
        </p:nvPicPr>
        <p:blipFill>
          <a:blip r:embed="rId2"/>
          <a:stretch>
            <a:fillRect/>
          </a:stretch>
        </p:blipFill>
        <p:spPr>
          <a:xfrm>
            <a:off x="4261517" y="1371599"/>
            <a:ext cx="4714352" cy="2979336"/>
          </a:xfrm>
          <a:prstGeom prst="rect">
            <a:avLst/>
          </a:prstGeom>
        </p:spPr>
      </p:pic>
      <p:sp>
        <p:nvSpPr>
          <p:cNvPr id="5" name="TextBox 4"/>
          <p:cNvSpPr txBox="1"/>
          <p:nvPr/>
        </p:nvSpPr>
        <p:spPr>
          <a:xfrm>
            <a:off x="787037" y="4460263"/>
            <a:ext cx="7792496" cy="1600438"/>
          </a:xfrm>
          <a:prstGeom prst="rect">
            <a:avLst/>
          </a:prstGeom>
          <a:noFill/>
        </p:spPr>
        <p:txBody>
          <a:bodyPr wrap="square">
            <a:spAutoFit/>
          </a:bodyPr>
          <a:lstStyle/>
          <a:p>
            <a:r>
              <a:rPr lang="en-US" sz="1400" dirty="0">
                <a:solidFill>
                  <a:srgbClr val="000000"/>
                </a:solidFill>
                <a:effectLst/>
                <a:latin typeface=".SF NS"/>
              </a:rPr>
              <a:t>Between 2020 and 2021, the real estate market experienced an unprecedented "surge" in transaction volume. This was driven by a combination of record-low interest rates, a shift toward remote work (the "Race for Space"), and pent-up demand from the initial pandemic lockdowns.  However, by 2022, the market "cooled" significantly as interest rates rose and inventory levels remained historically low. Despite this drop in sales volume, average prices remained "sticky" (price inelasticity). This indicates a market where sellers are unwilling to lower prices even as buyer demand softens, primarily due to the limited supply of high-quality inventory.</a:t>
            </a:r>
          </a:p>
        </p:txBody>
      </p:sp>
      <p:pic>
        <p:nvPicPr>
          <p:cNvPr id="6" name="Picture 5">
            <a:extLst>
              <a:ext uri="{FF2B5EF4-FFF2-40B4-BE49-F238E27FC236}">
                <a16:creationId xmlns:a16="http://schemas.microsoft.com/office/drawing/2014/main" id="{931C7873-267B-F6B4-6B78-3EF6AF5DD3E2}"/>
              </a:ext>
            </a:extLst>
          </p:cNvPr>
          <p:cNvPicPr>
            <a:picLocks noChangeAspect="1"/>
          </p:cNvPicPr>
          <p:nvPr/>
        </p:nvPicPr>
        <p:blipFill>
          <a:blip r:embed="rId3"/>
          <a:stretch>
            <a:fillRect/>
          </a:stretch>
        </p:blipFill>
        <p:spPr>
          <a:xfrm>
            <a:off x="0" y="1371599"/>
            <a:ext cx="3804317" cy="29793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Geographic Performance</a:t>
            </a:r>
          </a:p>
        </p:txBody>
      </p:sp>
      <p:pic>
        <p:nvPicPr>
          <p:cNvPr id="3" name="Picture 2" descr="top_cities_market.png"/>
          <p:cNvPicPr>
            <a:picLocks noChangeAspect="1"/>
          </p:cNvPicPr>
          <p:nvPr/>
        </p:nvPicPr>
        <p:blipFill>
          <a:blip r:embed="rId2"/>
          <a:stretch>
            <a:fillRect/>
          </a:stretch>
        </p:blipFill>
        <p:spPr>
          <a:xfrm>
            <a:off x="0" y="1371600"/>
            <a:ext cx="4965560" cy="2979336"/>
          </a:xfrm>
          <a:prstGeom prst="rect">
            <a:avLst/>
          </a:prstGeom>
        </p:spPr>
      </p:pic>
      <p:pic>
        <p:nvPicPr>
          <p:cNvPr id="4" name="Picture 3" descr="top_cities_price.png"/>
          <p:cNvPicPr>
            <a:picLocks noChangeAspect="1"/>
          </p:cNvPicPr>
          <p:nvPr/>
        </p:nvPicPr>
        <p:blipFill>
          <a:blip r:embed="rId3"/>
          <a:stretch>
            <a:fillRect/>
          </a:stretch>
        </p:blipFill>
        <p:spPr>
          <a:xfrm>
            <a:off x="4764593" y="1417638"/>
            <a:ext cx="4379407" cy="2637692"/>
          </a:xfrm>
          <a:prstGeom prst="rect">
            <a:avLst/>
          </a:prstGeom>
        </p:spPr>
      </p:pic>
      <p:sp>
        <p:nvSpPr>
          <p:cNvPr id="5" name="TextBox 4"/>
          <p:cNvSpPr txBox="1"/>
          <p:nvPr/>
        </p:nvSpPr>
        <p:spPr>
          <a:xfrm>
            <a:off x="625510" y="4587072"/>
            <a:ext cx="7892979" cy="1600438"/>
          </a:xfrm>
          <a:prstGeom prst="rect">
            <a:avLst/>
          </a:prstGeom>
          <a:noFill/>
        </p:spPr>
        <p:txBody>
          <a:bodyPr wrap="square">
            <a:spAutoFit/>
          </a:bodyPr>
          <a:lstStyle/>
          <a:p>
            <a:r>
              <a:rPr lang="en-US" sz="1400" dirty="0">
                <a:solidFill>
                  <a:srgbClr val="000000"/>
                </a:solidFill>
                <a:effectLst/>
                <a:latin typeface=".SF NS"/>
              </a:rPr>
              <a:t>There is a clear divide between High-Volume and High-Value markets. New York City functions as the regional "Volume Engine," accounting for the largest share of total transactions and market liquidity. Its dominance is driven by high-density urban turnover.  In contrast, the "Premium Value" is concentrated in exclusive, low-density luxury enclaves. Towns like North Hampton, NH and Belle Terre, NY show significantly higher average price points than major metropolitan centers. This reflects a market preference for "safe-haven" assets in prestigious locations where the scarcity of land and exclusivity of the community act as a hedge against broader market volatility.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1499"/>
          </a:xfrm>
        </p:spPr>
        <p:txBody>
          <a:bodyPr>
            <a:normAutofit fontScale="90000"/>
          </a:bodyPr>
          <a:lstStyle/>
          <a:p>
            <a:r>
              <a:rPr dirty="0"/>
              <a:t>Price Drivers</a:t>
            </a:r>
          </a:p>
        </p:txBody>
      </p:sp>
      <p:pic>
        <p:nvPicPr>
          <p:cNvPr id="3" name="Picture 2" descr="correlation_heatmap.png"/>
          <p:cNvPicPr>
            <a:picLocks noChangeAspect="1"/>
          </p:cNvPicPr>
          <p:nvPr/>
        </p:nvPicPr>
        <p:blipFill>
          <a:blip r:embed="rId2"/>
          <a:stretch>
            <a:fillRect/>
          </a:stretch>
        </p:blipFill>
        <p:spPr>
          <a:xfrm>
            <a:off x="457200" y="734558"/>
            <a:ext cx="4114800" cy="3086100"/>
          </a:xfrm>
          <a:prstGeom prst="rect">
            <a:avLst/>
          </a:prstGeom>
        </p:spPr>
      </p:pic>
      <p:pic>
        <p:nvPicPr>
          <p:cNvPr id="4" name="Picture 3" descr="price_vs_size.png"/>
          <p:cNvPicPr>
            <a:picLocks noChangeAspect="1"/>
          </p:cNvPicPr>
          <p:nvPr/>
        </p:nvPicPr>
        <p:blipFill>
          <a:blip r:embed="rId3"/>
          <a:stretch>
            <a:fillRect/>
          </a:stretch>
        </p:blipFill>
        <p:spPr>
          <a:xfrm>
            <a:off x="4481285" y="800100"/>
            <a:ext cx="4662715" cy="2893100"/>
          </a:xfrm>
          <a:prstGeom prst="rect">
            <a:avLst/>
          </a:prstGeom>
        </p:spPr>
      </p:pic>
      <p:sp>
        <p:nvSpPr>
          <p:cNvPr id="5" name="TextBox 4"/>
          <p:cNvSpPr txBox="1"/>
          <p:nvPr/>
        </p:nvSpPr>
        <p:spPr>
          <a:xfrm>
            <a:off x="738554" y="3886200"/>
            <a:ext cx="8138160" cy="2893100"/>
          </a:xfrm>
          <a:prstGeom prst="rect">
            <a:avLst/>
          </a:prstGeom>
          <a:noFill/>
        </p:spPr>
        <p:txBody>
          <a:bodyPr wrap="square">
            <a:spAutoFit/>
          </a:bodyPr>
          <a:lstStyle/>
          <a:p>
            <a:r>
              <a:rPr lang="en-US" sz="1400" dirty="0"/>
              <a:t>The analysis shows that </a:t>
            </a:r>
            <a:r>
              <a:rPr lang="en-US" sz="1400" b="1" dirty="0"/>
              <a:t>Bathrooms</a:t>
            </a:r>
            <a:r>
              <a:rPr lang="en-US" sz="1400" dirty="0"/>
              <a:t> are a stronger indicator of a property's value than </a:t>
            </a:r>
            <a:r>
              <a:rPr lang="en-US" sz="1400" b="1" dirty="0"/>
              <a:t>Bedrooms</a:t>
            </a:r>
            <a:r>
              <a:rPr lang="en-US" sz="1400" dirty="0"/>
              <a:t>. This suggests that high-value buyers are prioritizing amenities and luxury finishings over just simple room count.</a:t>
            </a:r>
          </a:p>
          <a:p>
            <a:r>
              <a:rPr lang="en-US" sz="1400" dirty="0"/>
              <a:t>On average, every extra square foot adds about </a:t>
            </a:r>
            <a:r>
              <a:rPr lang="en-US" sz="1400" b="1" dirty="0"/>
              <a:t>$2,240</a:t>
            </a:r>
            <a:r>
              <a:rPr lang="en-US" sz="1400" dirty="0"/>
              <a:t> to the price tag</a:t>
            </a:r>
          </a:p>
          <a:p>
            <a:r>
              <a:rPr lang="en-US" sz="1400" b="1" dirty="0"/>
              <a:t>The "Bedroom" Insight </a:t>
            </a:r>
            <a:r>
              <a:rPr lang="en-US" sz="1400" dirty="0"/>
              <a:t>This is the most interesting part of the chart. You might expect that "More Bedrooms" (darker/different colored dots) would always be at the top right (most expensive/biggest). </a:t>
            </a:r>
            <a:r>
              <a:rPr lang="en-US" sz="1400" b="1" dirty="0"/>
              <a:t>But they aren't always.</a:t>
            </a:r>
            <a:endParaRPr lang="en-US" sz="1400" dirty="0"/>
          </a:p>
          <a:p>
            <a:pPr>
              <a:buFont typeface="Arial" panose="020B0604020202020204" pitchFamily="34" charset="0"/>
              <a:buChar char="•"/>
            </a:pPr>
            <a:r>
              <a:rPr lang="en-US" sz="1400" b="1" dirty="0"/>
              <a:t>The "Cramped" Effect:</a:t>
            </a:r>
            <a:r>
              <a:rPr lang="en-US" sz="1400" dirty="0"/>
              <a:t> Some properties with </a:t>
            </a:r>
            <a:r>
              <a:rPr lang="en-US" sz="1400" b="1" dirty="0"/>
              <a:t>many bedrooms</a:t>
            </a:r>
            <a:r>
              <a:rPr lang="en-US" sz="1400" dirty="0"/>
              <a:t> are actually lower on the price scale. These are likely smaller homes where developers squeezed in extra rooms, making them feel cramped rather than luxurious.</a:t>
            </a:r>
          </a:p>
          <a:p>
            <a:pPr>
              <a:buFont typeface="Arial" panose="020B0604020202020204" pitchFamily="34" charset="0"/>
              <a:buChar char="•"/>
            </a:pPr>
            <a:r>
              <a:rPr lang="en-US" sz="1400" b="1" dirty="0"/>
              <a:t>The "Luxury" Effect:</a:t>
            </a:r>
            <a:r>
              <a:rPr lang="en-US" sz="1400" dirty="0"/>
              <a:t> Conversely, we see properties with </a:t>
            </a:r>
            <a:r>
              <a:rPr lang="en-US" sz="1400" b="1" dirty="0"/>
              <a:t>fewer bedrooms</a:t>
            </a:r>
            <a:r>
              <a:rPr lang="en-US" sz="1400" dirty="0"/>
              <a:t> (light colors) that are very large (far right). These represent "Grand" living spaces, huge master suites, open floor plans. These often command a premium because they signify luxury, not just utility.</a:t>
            </a:r>
          </a:p>
          <a:p>
            <a:endParaRPr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{86ED3CF2-1578-7C41-B84F-588304D616F7}tf10001120</Template>
  <TotalTime>68</TotalTime>
  <Words>510</Words>
  <Application>Microsoft Macintosh PowerPoint</Application>
  <PresentationFormat>On-screen Show (4:3)</PresentationFormat>
  <Paragraphs>17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.SF NS</vt:lpstr>
      <vt:lpstr>Arial</vt:lpstr>
      <vt:lpstr>Calibri</vt:lpstr>
      <vt:lpstr>Office Theme</vt:lpstr>
      <vt:lpstr>Real Estate Market Analysis</vt:lpstr>
      <vt:lpstr>Executive Summary</vt:lpstr>
      <vt:lpstr>Market Trends: Volume &amp; Price</vt:lpstr>
      <vt:lpstr>Geographic Performance</vt:lpstr>
      <vt:lpstr>Price Drivers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Market Analysis</dc:title>
  <dc:subject/>
  <dc:creator/>
  <cp:keywords/>
  <dc:description>generated using python-pptx</dc:description>
  <cp:lastModifiedBy>Manvenderr Singh</cp:lastModifiedBy>
  <cp:revision>2</cp:revision>
  <dcterms:created xsi:type="dcterms:W3CDTF">2013-01-27T09:14:16Z</dcterms:created>
  <dcterms:modified xsi:type="dcterms:W3CDTF">2026-01-21T10:23:15Z</dcterms:modified>
  <cp:category/>
</cp:coreProperties>
</file>